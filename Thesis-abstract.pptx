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50C49B6-6C3C-4636-AF40-4EBC03174961}" type="datetimeFigureOut">
              <a:rPr lang="fa-IR" smtClean="0"/>
              <a:t>27/04/1448</a:t>
            </a:fld>
            <a:endParaRPr lang="fa-IR"/>
          </a:p>
        </p:txBody>
      </p:sp>
      <p:sp>
        <p:nvSpPr>
          <p:cNvPr id="5" name="Footer Placeholder 4"/>
          <p:cNvSpPr>
            <a:spLocks noGrp="1"/>
          </p:cNvSpPr>
          <p:nvPr>
            <p:ph type="ftr" sz="quarter" idx="11"/>
          </p:nvPr>
        </p:nvSpPr>
        <p:spPr>
          <a:xfrm>
            <a:off x="1876424" y="5410201"/>
            <a:ext cx="5124886" cy="365125"/>
          </a:xfrm>
        </p:spPr>
        <p:txBody>
          <a:bodyPr/>
          <a:lstStyle/>
          <a:p>
            <a:endParaRPr lang="fa-IR"/>
          </a:p>
        </p:txBody>
      </p:sp>
      <p:sp>
        <p:nvSpPr>
          <p:cNvPr id="6" name="Slide Number Placeholder 5"/>
          <p:cNvSpPr>
            <a:spLocks noGrp="1"/>
          </p:cNvSpPr>
          <p:nvPr>
            <p:ph type="sldNum" sz="quarter" idx="12"/>
          </p:nvPr>
        </p:nvSpPr>
        <p:spPr>
          <a:xfrm>
            <a:off x="9896911" y="5410199"/>
            <a:ext cx="771089" cy="365125"/>
          </a:xfrm>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2041325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0C49B6-6C3C-4636-AF40-4EBC03174961}" type="datetimeFigureOut">
              <a:rPr lang="fa-IR" smtClean="0"/>
              <a:t>27/04/1448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4162729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0C49B6-6C3C-4636-AF40-4EBC03174961}" type="datetimeFigureOut">
              <a:rPr lang="fa-IR" smtClean="0"/>
              <a:t>27/04/1448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2728299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0C49B6-6C3C-4636-AF40-4EBC03174961}" type="datetimeFigureOut">
              <a:rPr lang="fa-IR" smtClean="0"/>
              <a:t>27/04/1448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292548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0C49B6-6C3C-4636-AF40-4EBC03174961}" type="datetimeFigureOut">
              <a:rPr lang="fa-IR" smtClean="0"/>
              <a:t>27/04/1448</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966016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0C49B6-6C3C-4636-AF40-4EBC03174961}" type="datetimeFigureOut">
              <a:rPr lang="fa-IR" smtClean="0"/>
              <a:t>27/04/1448</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3405194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0C49B6-6C3C-4636-AF40-4EBC03174961}" type="datetimeFigureOut">
              <a:rPr lang="fa-IR" smtClean="0"/>
              <a:t>27/04/1448</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1290682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C49B6-6C3C-4636-AF40-4EBC03174961}" type="datetimeFigureOut">
              <a:rPr lang="fa-IR" smtClean="0"/>
              <a:t>27/04/1448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3777829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C49B6-6C3C-4636-AF40-4EBC03174961}" type="datetimeFigureOut">
              <a:rPr lang="fa-IR" smtClean="0"/>
              <a:t>27/04/1448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1791433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C49B6-6C3C-4636-AF40-4EBC03174961}" type="datetimeFigureOut">
              <a:rPr lang="fa-IR" smtClean="0"/>
              <a:t>27/04/1448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13946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C49B6-6C3C-4636-AF40-4EBC03174961}" type="datetimeFigureOut">
              <a:rPr lang="fa-IR" smtClean="0"/>
              <a:t>27/04/1448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3734998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C49B6-6C3C-4636-AF40-4EBC03174961}" type="datetimeFigureOut">
              <a:rPr lang="fa-IR" smtClean="0"/>
              <a:t>27/04/1448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D3C50EE2-F5AA-419A-A514-E50CD2884B58}" type="slidenum">
              <a:rPr lang="fa-IR" smtClean="0"/>
              <a:t>‹#›</a:t>
            </a:fld>
            <a:endParaRPr lang="fa-IR"/>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78122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C49B6-6C3C-4636-AF40-4EBC03174961}" type="datetimeFigureOut">
              <a:rPr lang="fa-IR" smtClean="0"/>
              <a:t>27/04/1448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3702007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50C49B6-6C3C-4636-AF40-4EBC03174961}" type="datetimeFigureOut">
              <a:rPr lang="fa-IR" smtClean="0"/>
              <a:t>27/04/1448</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1132698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50C49B6-6C3C-4636-AF40-4EBC03174961}" type="datetimeFigureOut">
              <a:rPr lang="fa-IR" smtClean="0"/>
              <a:t>27/04/1448</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2860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0C49B6-6C3C-4636-AF40-4EBC03174961}" type="datetimeFigureOut">
              <a:rPr lang="fa-IR" smtClean="0"/>
              <a:t>27/04/1448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991769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0C49B6-6C3C-4636-AF40-4EBC03174961}" type="datetimeFigureOut">
              <a:rPr lang="fa-IR" smtClean="0"/>
              <a:t>27/04/1448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D3C50EE2-F5AA-419A-A514-E50CD2884B58}" type="slidenum">
              <a:rPr lang="fa-IR" smtClean="0"/>
              <a:t>‹#›</a:t>
            </a:fld>
            <a:endParaRPr lang="fa-IR"/>
          </a:p>
        </p:txBody>
      </p:sp>
    </p:spTree>
    <p:extLst>
      <p:ext uri="{BB962C8B-B14F-4D97-AF65-F5344CB8AC3E}">
        <p14:creationId xmlns:p14="http://schemas.microsoft.com/office/powerpoint/2010/main" val="951752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50C49B6-6C3C-4636-AF40-4EBC03174961}" type="datetimeFigureOut">
              <a:rPr lang="fa-IR" smtClean="0"/>
              <a:t>27/04/1448</a:t>
            </a:fld>
            <a:endParaRPr lang="fa-IR"/>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fa-I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3C50EE2-F5AA-419A-A514-E50CD2884B58}" type="slidenum">
              <a:rPr lang="fa-IR" smtClean="0"/>
              <a:t>‹#›</a:t>
            </a:fld>
            <a:endParaRPr lang="fa-IR"/>
          </a:p>
        </p:txBody>
      </p:sp>
    </p:spTree>
    <p:extLst>
      <p:ext uri="{BB962C8B-B14F-4D97-AF65-F5344CB8AC3E}">
        <p14:creationId xmlns:p14="http://schemas.microsoft.com/office/powerpoint/2010/main" val="2755477079"/>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914400" rtl="1"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r" defTabSz="914400" rtl="1"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r" defTabSz="914400" rtl="1"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r" defTabSz="914400" rtl="1"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r" defTabSz="914400" rtl="1"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r" defTabSz="914400" rtl="1"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C1ABF80-AA3B-2818-2121-1FC8BF773E23}"/>
              </a:ext>
            </a:extLst>
          </p:cNvPr>
          <p:cNvSpPr txBox="1"/>
          <p:nvPr/>
        </p:nvSpPr>
        <p:spPr>
          <a:xfrm>
            <a:off x="2597944" y="1533465"/>
            <a:ext cx="6996112" cy="5078313"/>
          </a:xfrm>
          <a:prstGeom prst="rect">
            <a:avLst/>
          </a:prstGeom>
          <a:noFill/>
        </p:spPr>
        <p:txBody>
          <a:bodyPr wrap="square">
            <a:spAutoFit/>
          </a:bodyPr>
          <a:lstStyle/>
          <a:p>
            <a:pPr algn="ctr"/>
            <a:r>
              <a:rPr lang="en-US" sz="1600" b="1" i="0" u="none" strike="noStrike" baseline="0" dirty="0">
                <a:solidFill>
                  <a:srgbClr val="000080"/>
                </a:solidFill>
                <a:latin typeface="Times New Roman" panose="02020603050405020304" pitchFamily="18" charset="0"/>
                <a:cs typeface="Times New Roman" panose="02020603050405020304" pitchFamily="18" charset="0"/>
              </a:rPr>
              <a:t>K. N. </a:t>
            </a:r>
            <a:r>
              <a:rPr lang="en-US" sz="1600" b="1" i="0" u="none" strike="noStrike" baseline="0" dirty="0" err="1">
                <a:solidFill>
                  <a:srgbClr val="000080"/>
                </a:solidFill>
                <a:latin typeface="Times New Roman" panose="02020603050405020304" pitchFamily="18" charset="0"/>
                <a:cs typeface="Times New Roman" panose="02020603050405020304" pitchFamily="18" charset="0"/>
              </a:rPr>
              <a:t>Toosi</a:t>
            </a:r>
            <a:r>
              <a:rPr lang="en-US" sz="1600" b="1" i="0" u="none" strike="noStrike" baseline="0" dirty="0">
                <a:solidFill>
                  <a:srgbClr val="000080"/>
                </a:solidFill>
                <a:latin typeface="Times New Roman" panose="02020603050405020304" pitchFamily="18" charset="0"/>
                <a:cs typeface="Times New Roman" panose="02020603050405020304" pitchFamily="18" charset="0"/>
              </a:rPr>
              <a:t> University of Technology</a:t>
            </a:r>
          </a:p>
          <a:p>
            <a:pPr algn="ctr"/>
            <a:r>
              <a:rPr lang="en-US" sz="1400" b="1" i="0" u="none" strike="noStrike" baseline="0" dirty="0">
                <a:solidFill>
                  <a:srgbClr val="000080"/>
                </a:solidFill>
                <a:latin typeface="Times New Roman" panose="02020603050405020304" pitchFamily="18" charset="0"/>
                <a:cs typeface="Times New Roman" panose="02020603050405020304" pitchFamily="18" charset="0"/>
              </a:rPr>
              <a:t>Faculty of Electrical Engineering- Telecommunication Group</a:t>
            </a:r>
          </a:p>
          <a:p>
            <a:pPr algn="ctr"/>
            <a:endParaRPr lang="en-US" sz="1400" b="1" i="0" u="none" strike="noStrike" baseline="0" dirty="0">
              <a:solidFill>
                <a:srgbClr val="000080"/>
              </a:solidFill>
              <a:latin typeface="Times New Roman" panose="02020603050405020304" pitchFamily="18" charset="0"/>
              <a:cs typeface="Times New Roman" panose="02020603050405020304" pitchFamily="18" charset="0"/>
            </a:endParaRPr>
          </a:p>
          <a:p>
            <a:pPr algn="ctr"/>
            <a:r>
              <a:rPr lang="en-US" sz="1600" b="1" i="0" u="none" strike="noStrike" baseline="0" dirty="0">
                <a:latin typeface="Times New Roman" panose="02020603050405020304" pitchFamily="18" charset="0"/>
                <a:cs typeface="Times New Roman" panose="02020603050405020304" pitchFamily="18" charset="0"/>
              </a:rPr>
              <a:t>Master's Thesis of Electrical Engineering in Telecommunications Systems Specialization</a:t>
            </a:r>
          </a:p>
          <a:p>
            <a:pPr algn="ctr"/>
            <a:endParaRPr lang="en-US" b="0" i="0" u="none" strike="noStrike" baseline="0" dirty="0">
              <a:solidFill>
                <a:srgbClr val="000000"/>
              </a:solidFill>
              <a:latin typeface="LiberationSerif"/>
              <a:cs typeface="+mj-cs"/>
            </a:endParaRPr>
          </a:p>
          <a:p>
            <a:pPr algn="ctr"/>
            <a:r>
              <a:rPr lang="en-US" sz="3600" b="1" i="0" u="none" strike="noStrike" baseline="0" dirty="0">
                <a:solidFill>
                  <a:srgbClr val="000000"/>
                </a:solidFill>
                <a:latin typeface="Times New Roman" panose="02020603050405020304" pitchFamily="18" charset="0"/>
                <a:cs typeface="Times New Roman" panose="02020603050405020304" pitchFamily="18" charset="0"/>
              </a:rPr>
              <a:t>Performance improvement of</a:t>
            </a:r>
          </a:p>
          <a:p>
            <a:pPr algn="ctr"/>
            <a:r>
              <a:rPr lang="en-US" sz="3600" b="1" i="0" u="none" strike="noStrike" baseline="0" dirty="0">
                <a:solidFill>
                  <a:srgbClr val="000000"/>
                </a:solidFill>
                <a:latin typeface="Times New Roman" panose="02020603050405020304" pitchFamily="18" charset="0"/>
                <a:cs typeface="Times New Roman" panose="02020603050405020304" pitchFamily="18" charset="0"/>
              </a:rPr>
              <a:t>RIS-assisted ISAC systems</a:t>
            </a:r>
          </a:p>
          <a:p>
            <a:pPr algn="ctr"/>
            <a:endParaRPr lang="en-US" sz="1600" b="1" i="0" u="none" strike="noStrike" baseline="0" dirty="0">
              <a:solidFill>
                <a:srgbClr val="000000"/>
              </a:solidFill>
              <a:latin typeface="LiberationSerif-Bold"/>
              <a:cs typeface="+mj-cs"/>
            </a:endParaRPr>
          </a:p>
          <a:p>
            <a:pPr algn="ctr"/>
            <a:r>
              <a:rPr lang="en-US" sz="1600" b="1" i="0" u="none" strike="noStrike" baseline="0" dirty="0">
                <a:solidFill>
                  <a:srgbClr val="000000"/>
                </a:solidFill>
                <a:latin typeface="Times New Roman" panose="02020603050405020304" pitchFamily="18" charset="0"/>
                <a:cs typeface="Times New Roman" panose="02020603050405020304" pitchFamily="18" charset="0"/>
              </a:rPr>
              <a:t>By:</a:t>
            </a:r>
          </a:p>
          <a:p>
            <a:pPr algn="ctr"/>
            <a:r>
              <a:rPr lang="en-US" sz="2400" b="1" i="0" u="none" strike="noStrike" baseline="0" dirty="0">
                <a:solidFill>
                  <a:srgbClr val="000000"/>
                </a:solidFill>
                <a:latin typeface="Times New Roman" panose="02020603050405020304" pitchFamily="18" charset="0"/>
                <a:cs typeface="Times New Roman" panose="02020603050405020304" pitchFamily="18" charset="0"/>
              </a:rPr>
              <a:t>Mohammad Sefid</a:t>
            </a:r>
          </a:p>
          <a:p>
            <a:pPr algn="ct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pPr algn="ctr"/>
            <a:r>
              <a:rPr lang="en-US" b="0" i="0" u="none" strike="noStrike" baseline="0" dirty="0">
                <a:solidFill>
                  <a:srgbClr val="000000"/>
                </a:solidFill>
                <a:latin typeface="Times New Roman" panose="02020603050405020304" pitchFamily="18" charset="0"/>
                <a:cs typeface="Times New Roman" panose="02020603050405020304" pitchFamily="18" charset="0"/>
              </a:rPr>
              <a:t>Supervisor:</a:t>
            </a:r>
          </a:p>
          <a:p>
            <a:pPr algn="ctr"/>
            <a:r>
              <a:rPr lang="en-US" sz="2400" b="1" i="0" u="none" strike="noStrike" baseline="0" dirty="0">
                <a:solidFill>
                  <a:srgbClr val="000000"/>
                </a:solidFill>
                <a:latin typeface="Times New Roman" panose="02020603050405020304" pitchFamily="18" charset="0"/>
                <a:cs typeface="Times New Roman" panose="02020603050405020304" pitchFamily="18" charset="0"/>
              </a:rPr>
              <a:t>Ali H. </a:t>
            </a:r>
            <a:r>
              <a:rPr lang="en-US" sz="2400" b="1" i="0" u="none" strike="noStrike" baseline="0" dirty="0" err="1">
                <a:solidFill>
                  <a:srgbClr val="000000"/>
                </a:solidFill>
                <a:latin typeface="Times New Roman" panose="02020603050405020304" pitchFamily="18" charset="0"/>
                <a:cs typeface="Times New Roman" panose="02020603050405020304" pitchFamily="18" charset="0"/>
              </a:rPr>
              <a:t>Bastami</a:t>
            </a:r>
            <a:endParaRPr lang="en-US" sz="2400" b="1" i="0" u="none" strike="noStrike" baseline="0" dirty="0">
              <a:solidFill>
                <a:srgbClr val="000000"/>
              </a:solidFill>
              <a:latin typeface="Times New Roman" panose="02020603050405020304" pitchFamily="18" charset="0"/>
              <a:cs typeface="Times New Roman" panose="02020603050405020304" pitchFamily="18" charset="0"/>
            </a:endParaRPr>
          </a:p>
          <a:p>
            <a:pPr algn="ctr"/>
            <a:endParaRPr lang="en-US" sz="2400" b="1" i="0" u="none" strike="noStrike" baseline="0" dirty="0">
              <a:solidFill>
                <a:srgbClr val="000000"/>
              </a:solidFill>
              <a:latin typeface="Times New Roman" panose="02020603050405020304" pitchFamily="18" charset="0"/>
              <a:cs typeface="Times New Roman" panose="02020603050405020304" pitchFamily="18" charset="0"/>
            </a:endParaRPr>
          </a:p>
          <a:p>
            <a:pPr algn="ctr"/>
            <a:r>
              <a:rPr lang="en-US" b="0" i="0" u="none" strike="noStrike" baseline="0" dirty="0">
                <a:solidFill>
                  <a:srgbClr val="000000"/>
                </a:solidFill>
                <a:latin typeface="Times New Roman" panose="02020603050405020304" pitchFamily="18" charset="0"/>
                <a:cs typeface="Times New Roman" panose="02020603050405020304" pitchFamily="18" charset="0"/>
              </a:rPr>
              <a:t>Summer 2026</a:t>
            </a:r>
            <a:endParaRPr lang="fa-IR"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FB8D32F-FD77-D25A-8DDA-A1673B19A74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489892" y="321250"/>
            <a:ext cx="1212215" cy="1212215"/>
          </a:xfrm>
          <a:prstGeom prst="rect">
            <a:avLst/>
          </a:prstGeom>
          <a:noFill/>
          <a:ln>
            <a:noFill/>
          </a:ln>
        </p:spPr>
      </p:pic>
    </p:spTree>
    <p:extLst>
      <p:ext uri="{BB962C8B-B14F-4D97-AF65-F5344CB8AC3E}">
        <p14:creationId xmlns:p14="http://schemas.microsoft.com/office/powerpoint/2010/main" val="2580890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D73F821-B33F-610E-86C8-FF9F79E8A428}"/>
              </a:ext>
            </a:extLst>
          </p:cNvPr>
          <p:cNvSpPr txBox="1"/>
          <p:nvPr/>
        </p:nvSpPr>
        <p:spPr>
          <a:xfrm>
            <a:off x="2274570" y="0"/>
            <a:ext cx="8366760" cy="7991803"/>
          </a:xfrm>
          <a:prstGeom prst="rect">
            <a:avLst/>
          </a:prstGeom>
          <a:noFill/>
        </p:spPr>
        <p:txBody>
          <a:bodyPr wrap="square">
            <a:spAutoFit/>
          </a:bodyPr>
          <a:lstStyle/>
          <a:p>
            <a:pPr marL="0" marR="0" algn="just" rtl="0">
              <a:lnSpc>
                <a:spcPct val="107000"/>
              </a:lnSpc>
              <a:spcBef>
                <a:spcPts val="0"/>
              </a:spcBef>
              <a:spcAft>
                <a:spcPts val="0"/>
              </a:spcAft>
            </a:pPr>
            <a:r>
              <a:rPr lang="en-US" sz="3600" b="1" dirty="0">
                <a:effectLst/>
                <a:latin typeface="Times New Roman" panose="02020603050405020304" pitchFamily="18" charset="0"/>
                <a:ea typeface="Aptos" panose="020B0004020202020204" pitchFamily="34" charset="0"/>
                <a:cs typeface="Times New Roman" panose="02020603050405020304" pitchFamily="18" charset="0"/>
              </a:rPr>
              <a:t>Abstract</a:t>
            </a:r>
            <a:endParaRPr lang="en-US" sz="1900" b="1"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lgn="just" rtl="0">
              <a:lnSpc>
                <a:spcPct val="107000"/>
              </a:lnSpc>
              <a:spcBef>
                <a:spcPts val="0"/>
              </a:spcBef>
              <a:spcAft>
                <a:spcPts val="0"/>
              </a:spcAft>
            </a:pPr>
            <a:endParaRPr lang="en-US" sz="19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lgn="just" rtl="0">
              <a:lnSpc>
                <a:spcPct val="107000"/>
              </a:lnSpc>
              <a:spcBef>
                <a:spcPts val="0"/>
              </a:spcBef>
              <a:spcAft>
                <a:spcPts val="0"/>
              </a:spcAft>
            </a:pPr>
            <a:endParaRPr lang="en-US" sz="1900" dirty="0">
              <a:latin typeface="Times New Roman" panose="02020603050405020304" pitchFamily="18" charset="0"/>
              <a:ea typeface="Aptos" panose="020B0004020202020204" pitchFamily="34" charset="0"/>
              <a:cs typeface="Times New Roman" panose="02020603050405020304" pitchFamily="18" charset="0"/>
            </a:endParaRPr>
          </a:p>
          <a:p>
            <a:pPr marL="0" marR="0" algn="just" rtl="0">
              <a:lnSpc>
                <a:spcPct val="107000"/>
              </a:lnSpc>
              <a:spcBef>
                <a:spcPts val="0"/>
              </a:spcBef>
              <a:spcAft>
                <a:spcPts val="0"/>
              </a:spcAft>
            </a:pPr>
            <a:endParaRPr lang="en-US" sz="19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lgn="just" rtl="0">
              <a:lnSpc>
                <a:spcPct val="107000"/>
              </a:lnSpc>
              <a:spcBef>
                <a:spcPts val="0"/>
              </a:spcBef>
              <a:spcAft>
                <a:spcPts val="0"/>
              </a:spcAft>
            </a:pPr>
            <a:r>
              <a:rPr lang="en-US" sz="2400" dirty="0">
                <a:effectLst/>
                <a:latin typeface="Times New Roman" panose="02020603050405020304" pitchFamily="18" charset="0"/>
                <a:ea typeface="Aptos" panose="020B0004020202020204" pitchFamily="34" charset="0"/>
                <a:cs typeface="Times New Roman" panose="02020603050405020304" pitchFamily="18" charset="0"/>
              </a:rPr>
              <a:t>This research presents an integrated model for integrated sensing and communication (ISAC) systems, in which cooperative non-orthogonal multiple access (C-NOMA) is utilized through simultaneous wireless information and power transfer (SWIPT) leveraging intelligent reflecting surfaces (IRS). In the considered scenario, a multi-antenna base station (BS) transmits a signal containing users’ messages to single-antenna users while simultaneously performing target sensing by adjusting beamforming vectors toward the sensing target. To transmit the signal to a far user, energy harvested from the near user’s signal is used. Furthermore, an intelligent reflecting surface is employed to enhance the superimposed signals by amplifying the channel and adjusting reflection coefficients.</a:t>
            </a:r>
          </a:p>
          <a:p>
            <a:pPr marL="0" marR="0" algn="just" rtl="0">
              <a:lnSpc>
                <a:spcPct val="107000"/>
              </a:lnSpc>
              <a:spcBef>
                <a:spcPts val="0"/>
              </a:spcBef>
              <a:spcAft>
                <a:spcPts val="0"/>
              </a:spcAft>
            </a:pPr>
            <a:endParaRPr lang="en-US" sz="19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lgn="just" rtl="0">
              <a:lnSpc>
                <a:spcPct val="107000"/>
              </a:lnSpc>
              <a:spcBef>
                <a:spcPts val="0"/>
              </a:spcBef>
              <a:spcAft>
                <a:spcPts val="0"/>
              </a:spcAft>
            </a:pPr>
            <a:endParaRPr lang="en-US" sz="19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lgn="just" rtl="0">
              <a:lnSpc>
                <a:spcPct val="107000"/>
              </a:lnSpc>
              <a:spcBef>
                <a:spcPts val="0"/>
              </a:spcBef>
              <a:spcAft>
                <a:spcPts val="0"/>
              </a:spcAft>
            </a:pPr>
            <a:endParaRPr lang="en-US" sz="19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endParaRPr lang="en-US" sz="1900" b="0" i="0" u="none" strike="noStrike" baseline="0" dirty="0">
              <a:latin typeface="LiberationSerif"/>
            </a:endParaRPr>
          </a:p>
        </p:txBody>
      </p:sp>
    </p:spTree>
    <p:extLst>
      <p:ext uri="{BB962C8B-B14F-4D97-AF65-F5344CB8AC3E}">
        <p14:creationId xmlns:p14="http://schemas.microsoft.com/office/powerpoint/2010/main" val="2495404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4E1A39-D02E-C847-0441-F8FE4006E694}"/>
              </a:ext>
            </a:extLst>
          </p:cNvPr>
          <p:cNvSpPr txBox="1"/>
          <p:nvPr/>
        </p:nvSpPr>
        <p:spPr>
          <a:xfrm>
            <a:off x="2308860" y="541022"/>
            <a:ext cx="8503919" cy="5993307"/>
          </a:xfrm>
          <a:prstGeom prst="rect">
            <a:avLst/>
          </a:prstGeom>
          <a:noFill/>
        </p:spPr>
        <p:txBody>
          <a:bodyPr wrap="square">
            <a:spAutoFit/>
          </a:bodyPr>
          <a:lstStyle/>
          <a:p>
            <a:pPr marL="0" marR="0" algn="just" rtl="0">
              <a:lnSpc>
                <a:spcPct val="107000"/>
              </a:lnSpc>
              <a:spcBef>
                <a:spcPts val="0"/>
              </a:spcBef>
              <a:spcAft>
                <a:spcPts val="0"/>
              </a:spcAft>
            </a:pPr>
            <a:r>
              <a:rPr lang="en-US" sz="2400" dirty="0">
                <a:effectLst/>
                <a:latin typeface="Times New Roman" panose="02020603050405020304" pitchFamily="18" charset="0"/>
                <a:ea typeface="Aptos" panose="020B0004020202020204" pitchFamily="34" charset="0"/>
                <a:cs typeface="+mj-cs"/>
              </a:rPr>
              <a:t>The main objective of this research is to maximize the sum rate of communication users while ensuring acceptable probing power for the sensing target. The main challenge in implementation is the non-convexity of the problem due to the non-convex objective function and some constraints. Therefore, first we dealt with </a:t>
            </a:r>
            <a:r>
              <a:rPr lang="en-US" sz="2400" dirty="0">
                <a:latin typeface="Times New Roman" panose="02020603050405020304" pitchFamily="18" charset="0"/>
                <a:ea typeface="Aptos" panose="020B0004020202020204" pitchFamily="34" charset="0"/>
                <a:cs typeface="+mj-cs"/>
              </a:rPr>
              <a:t>Alternating</a:t>
            </a:r>
            <a:r>
              <a:rPr lang="en-US" sz="2400" dirty="0">
                <a:effectLst/>
                <a:latin typeface="Times New Roman" panose="02020603050405020304" pitchFamily="18" charset="0"/>
                <a:ea typeface="Aptos" panose="020B0004020202020204" pitchFamily="34" charset="0"/>
                <a:cs typeface="+mj-cs"/>
              </a:rPr>
              <a:t> </a:t>
            </a:r>
            <a:r>
              <a:rPr lang="en-US" sz="2400" dirty="0">
                <a:latin typeface="Times New Roman" panose="02020603050405020304" pitchFamily="18" charset="0"/>
                <a:ea typeface="Aptos" panose="020B0004020202020204" pitchFamily="34" charset="0"/>
                <a:cs typeface="+mj-cs"/>
              </a:rPr>
              <a:t>O</a:t>
            </a:r>
            <a:r>
              <a:rPr lang="en-US" sz="2400" dirty="0">
                <a:effectLst/>
                <a:latin typeface="Times New Roman" panose="02020603050405020304" pitchFamily="18" charset="0"/>
                <a:ea typeface="Aptos" panose="020B0004020202020204" pitchFamily="34" charset="0"/>
                <a:cs typeface="+mj-cs"/>
              </a:rPr>
              <a:t>ptimization method and convexifying the optimization problem</a:t>
            </a:r>
            <a:r>
              <a:rPr lang="en-US" sz="2400" dirty="0">
                <a:latin typeface="Times New Roman" panose="02020603050405020304" pitchFamily="18" charset="0"/>
                <a:ea typeface="Aptos" panose="020B0004020202020204" pitchFamily="34" charset="0"/>
                <a:cs typeface="+mj-cs"/>
              </a:rPr>
              <a:t>.</a:t>
            </a:r>
            <a:r>
              <a:rPr lang="en-US" sz="2400" dirty="0">
                <a:effectLst/>
                <a:latin typeface="Times New Roman" panose="02020603050405020304" pitchFamily="18" charset="0"/>
                <a:ea typeface="Aptos" panose="020B0004020202020204" pitchFamily="34" charset="0"/>
                <a:cs typeface="+mj-cs"/>
              </a:rPr>
              <a:t> Then machine learning-based approaches and metaheuristic algorithms are proposed, and these methods are compared with each other in terms of convergence to the maximum sum rate.</a:t>
            </a:r>
          </a:p>
          <a:p>
            <a:pPr marL="0" marR="0" algn="just" rtl="0">
              <a:lnSpc>
                <a:spcPct val="107000"/>
              </a:lnSpc>
              <a:spcBef>
                <a:spcPts val="0"/>
              </a:spcBef>
              <a:spcAft>
                <a:spcPts val="0"/>
              </a:spcAft>
            </a:pPr>
            <a:endParaRPr lang="en-US" sz="2400" b="1" dirty="0">
              <a:latin typeface="Times New Roman" panose="02020603050405020304" pitchFamily="18" charset="0"/>
              <a:ea typeface="Aptos" panose="020B0004020202020204" pitchFamily="34" charset="0"/>
              <a:cs typeface="+mj-cs"/>
            </a:endParaRPr>
          </a:p>
          <a:p>
            <a:pPr marL="0" marR="0" algn="just" rtl="0">
              <a:lnSpc>
                <a:spcPct val="107000"/>
              </a:lnSpc>
              <a:spcBef>
                <a:spcPts val="0"/>
              </a:spcBef>
              <a:spcAft>
                <a:spcPts val="0"/>
              </a:spcAft>
            </a:pPr>
            <a:r>
              <a:rPr lang="en-US" sz="2400" b="1" dirty="0">
                <a:effectLst/>
                <a:latin typeface="Times New Roman" panose="02020603050405020304" pitchFamily="18" charset="0"/>
                <a:ea typeface="Aptos" panose="020B0004020202020204" pitchFamily="34" charset="0"/>
                <a:cs typeface="+mj-cs"/>
              </a:rPr>
              <a:t>Keywords</a:t>
            </a:r>
            <a:r>
              <a:rPr lang="en-US" sz="2400" dirty="0">
                <a:effectLst/>
                <a:latin typeface="Times New Roman" panose="02020603050405020304" pitchFamily="18" charset="0"/>
                <a:ea typeface="Aptos" panose="020B0004020202020204" pitchFamily="34" charset="0"/>
                <a:cs typeface="+mj-cs"/>
              </a:rPr>
              <a:t> Integrated Sensing and Communication (ISAC), Cooperative Non-Orthogonal Multiple Access (C-NOMA), Intelligent Reflecting Surfaces (IRS), Simultaneous Wireless Information and Power Transfer (SWIPT), Max Sum rate</a:t>
            </a:r>
          </a:p>
        </p:txBody>
      </p:sp>
    </p:spTree>
    <p:extLst>
      <p:ext uri="{BB962C8B-B14F-4D97-AF65-F5344CB8AC3E}">
        <p14:creationId xmlns:p14="http://schemas.microsoft.com/office/powerpoint/2010/main" val="18270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ustom 5">
      <a:dk1>
        <a:sysClr val="windowText" lastClr="000000"/>
      </a:dk1>
      <a:lt1>
        <a:srgbClr val="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56</TotalTime>
  <Words>285</Words>
  <Application>Microsoft Office PowerPoint</Application>
  <PresentationFormat>Widescreen</PresentationFormat>
  <Paragraphs>25</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LiberationSerif</vt:lpstr>
      <vt:lpstr>LiberationSerif-Bold</vt:lpstr>
      <vt:lpstr>Times New Roman</vt:lpstr>
      <vt:lpstr>Tw Cen MT</vt:lpstr>
      <vt:lpstr>Circuit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Mohammad Sefid</dc:creator>
  <cp:lastModifiedBy>Mohammad Sefid</cp:lastModifiedBy>
  <cp:revision>12</cp:revision>
  <dcterms:created xsi:type="dcterms:W3CDTF">2026-10-09T18:04:53Z</dcterms:created>
  <dcterms:modified xsi:type="dcterms:W3CDTF">2026-10-09T21:52:20Z</dcterms:modified>
</cp:coreProperties>
</file>