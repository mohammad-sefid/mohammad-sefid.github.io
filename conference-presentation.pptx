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36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7" r:id="rId7"/>
    <p:sldId id="265" r:id="rId8"/>
    <p:sldId id="263" r:id="rId9"/>
    <p:sldId id="262" r:id="rId10"/>
    <p:sldId id="273" r:id="rId11"/>
    <p:sldId id="266" r:id="rId12"/>
    <p:sldId id="264" r:id="rId13"/>
    <p:sldId id="274" r:id="rId14"/>
    <p:sldId id="270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9C7FD680-A4D4-4402-A340-DFB6D92C870D}">
          <p14:sldIdLst>
            <p14:sldId id="256"/>
          </p14:sldIdLst>
        </p14:section>
        <p14:section name="Content List" id="{05B73ADA-6D64-43E3-8B3A-21F00D7D4180}">
          <p14:sldIdLst>
            <p14:sldId id="257"/>
          </p14:sldIdLst>
        </p14:section>
        <p14:section name="Introduction" id="{AE4CEBE5-2A13-4D29-A491-0ECF8572EDFC}">
          <p14:sldIdLst>
            <p14:sldId id="258"/>
          </p14:sldIdLst>
        </p14:section>
        <p14:section name="Background" id="{115A43F5-71FE-4DC3-AC6B-35DF7404C232}">
          <p14:sldIdLst>
            <p14:sldId id="259"/>
            <p14:sldId id="260"/>
          </p14:sldIdLst>
        </p14:section>
        <p14:section name="STAR-RIS Applications" id="{10C3875D-61B2-4FDD-AD1F-E20579011217}">
          <p14:sldIdLst>
            <p14:sldId id="267"/>
            <p14:sldId id="265"/>
            <p14:sldId id="263"/>
            <p14:sldId id="262"/>
            <p14:sldId id="273"/>
            <p14:sldId id="266"/>
            <p14:sldId id="264"/>
            <p14:sldId id="274"/>
          </p14:sldIdLst>
        </p14:section>
        <p14:section name="Conclusion" id="{20209596-1A58-4E32-8ADE-5B16076D2DFF}">
          <p14:sldIdLst>
            <p14:sldId id="270"/>
          </p14:sldIdLst>
        </p14:section>
        <p14:section name="The end" id="{DED7EE0B-C84A-4DB2-A81F-0BB0DF60B669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56" d="100"/>
          <a:sy n="56" d="100"/>
        </p:scale>
        <p:origin x="8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81C19-5A8C-45CC-92B9-7DF68E37F96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817B8-0A72-4FDD-95B8-A2E1FF362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86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817B8-0A72-4FDD-95B8-A2E1FF3627E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29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817B8-0A72-4FDD-95B8-A2E1FF3627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6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7125F-2245-4E4A-814D-207DCABAD904}" type="datetime1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298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71EC-60DF-45B1-BE5E-AA3A022C1BF3}" type="datetime1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05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0E39-71C3-476E-8B94-904325DF910F}" type="datetime1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835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87DD5-9246-49C8-80BE-F63878ED0B05}" type="datetime1">
              <a:rPr lang="en-US" smtClean="0"/>
              <a:t>10/21/2026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054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11F4-36CA-47CB-8C02-019C5C78BD65}" type="datetime1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625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4716A-5990-49E0-B4C8-93BE44C843C0}" type="datetime1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83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0763-87B7-4064-B6CF-4C897EFE316D}" type="datetime1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9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2C6E-BA7B-471B-8DC5-D853F3665B86}" type="datetime1">
              <a:rPr lang="en-US" smtClean="0"/>
              <a:t>10/21/2026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088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C50D3A3-6816-4641-A52B-ED269A47E354}" type="datetime1">
              <a:rPr lang="en-US" smtClean="0"/>
              <a:t>10/21/2026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8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A2935-BE49-4432-A17E-CB990A849B6F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13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C313-B83E-4A0E-8DAF-FC6A698EC5E5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538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D365DEE-3234-4D16-A1A5-5793FD19733D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0801C881-9964-4248-ACBD-E7C5E2808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1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8C531-3F6F-42ED-608E-F197E98B4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403474"/>
            <a:ext cx="8991600" cy="1645920"/>
          </a:xfrm>
        </p:spPr>
        <p:txBody>
          <a:bodyPr>
            <a:noAutofit/>
          </a:bodyPr>
          <a:lstStyle/>
          <a:p>
            <a:b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STAR-RIS in Communication Systems</a:t>
            </a:r>
            <a:b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3456B7-6288-8B03-A652-C7BACB390B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58027" y="107081"/>
            <a:ext cx="1368108" cy="136810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633928-A6C8-5A29-6215-98EBB46C98C8}"/>
              </a:ext>
            </a:extLst>
          </p:cNvPr>
          <p:cNvSpPr txBox="1"/>
          <p:nvPr/>
        </p:nvSpPr>
        <p:spPr>
          <a:xfrm>
            <a:off x="4312905" y="1600777"/>
            <a:ext cx="35661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Electrical Engineering Department</a:t>
            </a:r>
            <a:endParaRPr lang="en-US" sz="16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0FF9B4-C389-14AF-4AC9-58C09C92ACAC}"/>
              </a:ext>
            </a:extLst>
          </p:cNvPr>
          <p:cNvSpPr txBox="1"/>
          <p:nvPr/>
        </p:nvSpPr>
        <p:spPr>
          <a:xfrm>
            <a:off x="4640580" y="4594860"/>
            <a:ext cx="2720340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Mohammad Sefid</a:t>
            </a:r>
          </a:p>
          <a:p>
            <a:pPr algn="ctr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Bastami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902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D0DC4-6679-D477-DCC9-142E27F09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23613"/>
            <a:ext cx="7729728" cy="118872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C0711-C01B-B2F7-3A99-DEF15CE58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lnSpc>
                <a:spcPct val="150000"/>
              </a:lnSpc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fa-I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Applications of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STAR-RIS</a:t>
            </a:r>
            <a:r>
              <a:rPr lang="fa-IR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 Wireless Communications</a:t>
            </a:r>
            <a:r>
              <a:rPr lang="fa-IR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chemeClr val="accent3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fa-I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chemeClr val="accent3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92E70-19E5-CD0B-7B56-3C78992C5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z="1400" smtClean="0"/>
              <a:t>2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1715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8F68F-FD76-49A8-E4A6-1B8ABAF20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26287"/>
            <a:ext cx="7729728" cy="1188720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8D339-809B-CC7E-0436-1CEB836ED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z="1400" smtClean="0"/>
              <a:t>3</a:t>
            </a:fld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1E6108-2B48-C111-FAE3-664261C2932B}"/>
              </a:ext>
            </a:extLst>
          </p:cNvPr>
          <p:cNvSpPr txBox="1"/>
          <p:nvPr/>
        </p:nvSpPr>
        <p:spPr>
          <a:xfrm>
            <a:off x="1417321" y="5693852"/>
            <a:ext cx="95244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illustration of various signal propagation modes: a) full reflection (RIS acting solely as a reflector); c) full transmission; d) simultaneous transmission and reflection</a:t>
            </a:r>
            <a:r>
              <a:rPr lang="fa-IR" sz="14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(STAR-RIS) [1]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Content Placeholder 11" descr="A diagram of a radio tower&#10;&#10;AI-generated content may be incorrect.">
            <a:extLst>
              <a:ext uri="{FF2B5EF4-FFF2-40B4-BE49-F238E27FC236}">
                <a16:creationId xmlns:a16="http://schemas.microsoft.com/office/drawing/2014/main" id="{84C4DD55-387D-3035-A053-B30EEF4CED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644" y="2465322"/>
            <a:ext cx="3710712" cy="32285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DBAFFD-305A-EACF-D374-36F9FF24B870}"/>
              </a:ext>
            </a:extLst>
          </p:cNvPr>
          <p:cNvSpPr txBox="1"/>
          <p:nvPr/>
        </p:nvSpPr>
        <p:spPr>
          <a:xfrm>
            <a:off x="125730" y="6425669"/>
            <a:ext cx="1063319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Ahmed, Manzoor, Fang Xu,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Yuanlin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Lyu,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Aized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Amin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Soofi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Yongxiao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Li,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Feroz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Khan, Wali Ullah Khan, Muhammad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Sheraz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Teong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Chee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Chuah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Min Deng. “RIS-Driven Resource Allocation Strategies for Diverse Network Environments: A Comprehensive Review.”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abs/2501.03075 (2025)</a:t>
            </a:r>
          </a:p>
        </p:txBody>
      </p:sp>
    </p:spTree>
    <p:extLst>
      <p:ext uri="{BB962C8B-B14F-4D97-AF65-F5344CB8AC3E}">
        <p14:creationId xmlns:p14="http://schemas.microsoft.com/office/powerpoint/2010/main" val="401900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E65C-94D8-ADC4-361E-0C2E3476F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4" y="526601"/>
            <a:ext cx="7729728" cy="1188720"/>
          </a:xfrm>
        </p:spPr>
        <p:txBody>
          <a:bodyPr>
            <a:normAutofit/>
          </a:bodyPr>
          <a:lstStyle/>
          <a:p>
            <a:pPr rtl="1"/>
            <a:r>
              <a:rPr lang="en-US" sz="2400" dirty="0">
                <a:latin typeface="Times New Roman" panose="02020603050405020304" pitchFamily="18" charset="0"/>
                <a:cs typeface="B Nazanin" panose="00000400000000000000" pitchFamily="2" charset="-78"/>
              </a:rPr>
              <a:t>Background – Introduction to RIS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07747-0362-344C-D394-C1AB2D280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z="1400" smtClean="0"/>
              <a:t>4</a:t>
            </a:fld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99BADE-8D69-900F-4881-DA8A6571051F}"/>
              </a:ext>
            </a:extLst>
          </p:cNvPr>
          <p:cNvSpPr txBox="1"/>
          <p:nvPr/>
        </p:nvSpPr>
        <p:spPr>
          <a:xfrm>
            <a:off x="2219294" y="1715321"/>
            <a:ext cx="2320350" cy="184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200000"/>
              </a:lnSpc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RIS</a:t>
            </a:r>
          </a:p>
          <a:p>
            <a:pPr marL="285750" indent="-285750" algn="l">
              <a:lnSpc>
                <a:spcPct val="200000"/>
              </a:lnSpc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RIS</a:t>
            </a:r>
            <a:endParaRPr lang="fa-I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STAR-RIS [2]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6F8941-E89A-DAA2-F141-84F2C568C5B4}"/>
              </a:ext>
            </a:extLst>
          </p:cNvPr>
          <p:cNvSpPr txBox="1"/>
          <p:nvPr/>
        </p:nvSpPr>
        <p:spPr>
          <a:xfrm>
            <a:off x="3596639" y="5941878"/>
            <a:ext cx="54330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B Nazanin" panose="00000400000000000000" pitchFamily="2" charset="-78"/>
              </a:rPr>
              <a:t>Types of RIS, which include Passive, Active, and STAR-RIS [2]</a:t>
            </a:r>
          </a:p>
        </p:txBody>
      </p:sp>
      <p:pic>
        <p:nvPicPr>
          <p:cNvPr id="14" name="Content Placeholder 13" descr="A diagram of a diagram of a solar panel&#10;&#10;AI-generated content may be incorrect.">
            <a:extLst>
              <a:ext uri="{FF2B5EF4-FFF2-40B4-BE49-F238E27FC236}">
                <a16:creationId xmlns:a16="http://schemas.microsoft.com/office/drawing/2014/main" id="{48ED0C63-3A7C-13C9-FC8E-CBA0EE73F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572" y="3560506"/>
            <a:ext cx="7302875" cy="238137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D0E255-7585-3BB5-5F4A-BEA545AFFB44}"/>
              </a:ext>
            </a:extLst>
          </p:cNvPr>
          <p:cNvSpPr txBox="1"/>
          <p:nvPr/>
        </p:nvSpPr>
        <p:spPr>
          <a:xfrm>
            <a:off x="434340" y="6307718"/>
            <a:ext cx="1001597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M. Ahmed et al., "A Survey on STAR-RIS: Use Cases, Recent Advances, and Future Research Challenges," in IEEE Internet of Things Journal, vol. 10, no. 16, pp. 14689-14711, 15 Aug.15, (2023)</a:t>
            </a:r>
          </a:p>
        </p:txBody>
      </p:sp>
    </p:spTree>
    <p:extLst>
      <p:ext uri="{BB962C8B-B14F-4D97-AF65-F5344CB8AC3E}">
        <p14:creationId xmlns:p14="http://schemas.microsoft.com/office/powerpoint/2010/main" val="318430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210B9-98F2-EA2D-4680-41C32AA07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44088"/>
            <a:ext cx="7729728" cy="1188720"/>
          </a:xfrm>
        </p:spPr>
        <p:txBody>
          <a:bodyPr>
            <a:normAutofit/>
          </a:bodyPr>
          <a:lstStyle/>
          <a:p>
            <a:pPr rtl="1"/>
            <a:r>
              <a:rPr lang="en-US" sz="2400" dirty="0">
                <a:latin typeface="Times New Roman" panose="02020603050405020304" pitchFamily="18" charset="0"/>
                <a:cs typeface="B Nazanin" panose="00000400000000000000" pitchFamily="2" charset="-78"/>
              </a:rPr>
              <a:t>Background - STAR-RIS Performance Protocols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8F1DC-B980-3BEE-B02B-89E38548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z="1400" smtClean="0"/>
              <a:t>5</a:t>
            </a:fld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433027-74E3-C410-86E9-EF83361FB417}"/>
              </a:ext>
            </a:extLst>
          </p:cNvPr>
          <p:cNvSpPr txBox="1"/>
          <p:nvPr/>
        </p:nvSpPr>
        <p:spPr>
          <a:xfrm>
            <a:off x="2451987" y="5722033"/>
            <a:ext cx="72842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B Nazanin" panose="00000400000000000000" pitchFamily="2" charset="-78"/>
              </a:rPr>
              <a:t>Three STAR-RIS operational protocols: ​​(a) ES-STAR, (b) MS-STAR, (c) TS-STAR [4]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71857D-6DB6-78B5-8F12-F0254BB2BE7F}"/>
              </a:ext>
            </a:extLst>
          </p:cNvPr>
          <p:cNvSpPr txBox="1"/>
          <p:nvPr/>
        </p:nvSpPr>
        <p:spPr>
          <a:xfrm>
            <a:off x="2231136" y="1777354"/>
            <a:ext cx="6096000" cy="1846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B Nazanin" panose="00000400000000000000" pitchFamily="2" charset="-78"/>
              </a:rPr>
              <a:t>Energy Splitting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B Nazanin" panose="00000400000000000000" pitchFamily="2" charset="-78"/>
              </a:rPr>
              <a:t>(ES)</a:t>
            </a:r>
          </a:p>
          <a:p>
            <a:pPr marL="285750" indent="-285750" algn="l">
              <a:lnSpc>
                <a:spcPct val="200000"/>
              </a:lnSpc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B Nazanin" panose="00000400000000000000" pitchFamily="2" charset="-78"/>
              </a:rPr>
              <a:t>Mode Switching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B Nazanin" panose="00000400000000000000" pitchFamily="2" charset="-78"/>
              </a:rPr>
              <a:t> (MS)</a:t>
            </a:r>
            <a:endParaRPr lang="en-US" sz="2000" dirty="0"/>
          </a:p>
          <a:p>
            <a:pPr marL="285750" indent="-285750">
              <a:lnSpc>
                <a:spcPct val="200000"/>
              </a:lnSpc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B Nazanin" panose="00000400000000000000" pitchFamily="2" charset="-78"/>
              </a:rPr>
              <a:t>Time Switching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B Nazanin" panose="00000400000000000000" pitchFamily="2" charset="-78"/>
              </a:rPr>
              <a:t>(TS) </a:t>
            </a:r>
            <a:r>
              <a:rPr lang="en-US" altLang="en-US" sz="2000" dirty="0">
                <a:latin typeface="Times New Roman" panose="02020603050405020304" pitchFamily="18" charset="0"/>
                <a:cs typeface="B Nazanin" panose="00000400000000000000" pitchFamily="2" charset="-78"/>
              </a:rPr>
              <a:t>[3] </a:t>
            </a:r>
            <a:endParaRPr lang="en-US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D2EC221-5922-9838-851E-1C7C69ADC6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6585" y="3640807"/>
            <a:ext cx="6615021" cy="20638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EC687F-9815-CF54-89C8-C9CF6684BDDD}"/>
              </a:ext>
            </a:extLst>
          </p:cNvPr>
          <p:cNvSpPr txBox="1"/>
          <p:nvPr/>
        </p:nvSpPr>
        <p:spPr>
          <a:xfrm>
            <a:off x="0" y="6207200"/>
            <a:ext cx="609790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Liu,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Yuanwei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Xu, Jiaqi &amp; Wang,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Zhaolin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Mu,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Xidong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Zhang, Jianhua &amp; Zhang, Ping. (2023). Simultaneously Transmitting and Reflecting (STAR) RIS for 6G: Fundamentals, Recent Advances, and Future Directions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AB55AC-01DC-0AA3-BFAB-A66237635FBD}"/>
              </a:ext>
            </a:extLst>
          </p:cNvPr>
          <p:cNvSpPr txBox="1"/>
          <p:nvPr/>
        </p:nvSpPr>
        <p:spPr>
          <a:xfrm>
            <a:off x="6094096" y="6207199"/>
            <a:ext cx="609790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Mu,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Xidong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Xu, Jiaqi &amp; Liu,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Yuanwei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(2023). Reconfigurable Intelligent Surfaces Toward 6G: From Reflection Only to Simultaneous Transmission and Reflection (STAR), Fundamentals of 6G Communications and Networking. Signals and Communication Technology. Springer, Cham</a:t>
            </a:r>
          </a:p>
        </p:txBody>
      </p:sp>
    </p:spTree>
    <p:extLst>
      <p:ext uri="{BB962C8B-B14F-4D97-AF65-F5344CB8AC3E}">
        <p14:creationId xmlns:p14="http://schemas.microsoft.com/office/powerpoint/2010/main" val="76219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A667E-08B1-78DC-393B-16D85CA84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92267"/>
            <a:ext cx="7729728" cy="1188720"/>
          </a:xfrm>
        </p:spPr>
        <p:txBody>
          <a:bodyPr>
            <a:normAutofit/>
          </a:bodyPr>
          <a:lstStyle/>
          <a:p>
            <a:pPr rtl="1">
              <a:lnSpc>
                <a:spcPct val="100000"/>
              </a:lnSpc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B Nazanin" panose="00000400000000000000" pitchFamily="2" charset="-78"/>
              </a:rPr>
              <a:t>Applications of STAR-RIS in Wireless Communications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E31EA-3295-8A3B-5D64-D766194A3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007114"/>
            <a:ext cx="5804154" cy="2593181"/>
          </a:xfrm>
        </p:spPr>
        <p:txBody>
          <a:bodyPr>
            <a:normAutofit/>
          </a:bodyPr>
          <a:lstStyle/>
          <a:p>
            <a:pPr>
              <a:buClr>
                <a:schemeClr val="accent3"/>
              </a:buClr>
            </a:pP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B Nazanin" panose="00000400000000000000" pitchFamily="2" charset="-78"/>
              </a:rPr>
              <a:t>Non-Orthogonal Multiple Access (NOMA)</a:t>
            </a:r>
            <a:endParaRPr lang="en-US" sz="20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algn="r" rtl="1">
              <a:buClr>
                <a:schemeClr val="accent3"/>
              </a:buClr>
            </a:pPr>
            <a:endParaRPr lang="en-US" sz="20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algn="r" rtl="1">
              <a:buClr>
                <a:schemeClr val="accent3"/>
              </a:buClr>
            </a:pPr>
            <a:endParaRPr lang="en-US" sz="20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0" indent="0" algn="r" rtl="1">
              <a:buClr>
                <a:schemeClr val="accent3"/>
              </a:buClr>
              <a:buNone/>
            </a:pPr>
            <a:endParaRPr lang="en-US" sz="20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algn="r" rtl="1">
              <a:buClr>
                <a:schemeClr val="accent3"/>
              </a:buClr>
            </a:pPr>
            <a:endParaRPr lang="en-US" sz="4000" kern="100" dirty="0">
              <a:latin typeface="Times New Roman" panose="02020603050405020304" pitchFamily="18" charset="0"/>
              <a:ea typeface="Aptos" panose="020B0004020202020204" pitchFamily="34" charset="0"/>
              <a:cs typeface="B Nazanin" panose="00000400000000000000" pitchFamily="2" charset="-78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64EE8-89C6-6575-27C0-F703ACAB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z="1400" smtClean="0"/>
              <a:t>6</a:t>
            </a:fld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306448-5755-5694-FD0E-49C6AB657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328" y="4198460"/>
            <a:ext cx="6351320" cy="17564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67D2EE-7CD2-BFB9-22C9-EF211CE5AA53}"/>
              </a:ext>
            </a:extLst>
          </p:cNvPr>
          <p:cNvSpPr txBox="1"/>
          <p:nvPr/>
        </p:nvSpPr>
        <p:spPr>
          <a:xfrm>
            <a:off x="2743533" y="5954790"/>
            <a:ext cx="6448115" cy="32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illustration of two user clustering strategies in STAR-NOMA [6]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diagram of a network&#10;&#10;AI-generated content may be incorrect.">
            <a:extLst>
              <a:ext uri="{FF2B5EF4-FFF2-40B4-BE49-F238E27FC236}">
                <a16:creationId xmlns:a16="http://schemas.microsoft.com/office/drawing/2014/main" id="{AE680AD7-026A-68A3-9673-BFAF4C50A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7190" y="2144362"/>
            <a:ext cx="3701143" cy="18378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CC2C8F-946D-ED47-B21A-66C1D4B054F4}"/>
              </a:ext>
            </a:extLst>
          </p:cNvPr>
          <p:cNvSpPr txBox="1"/>
          <p:nvPr/>
        </p:nvSpPr>
        <p:spPr>
          <a:xfrm>
            <a:off x="8382744" y="3982200"/>
            <a:ext cx="28300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B Nazanin" panose="00000400000000000000" pitchFamily="2" charset="-78"/>
              </a:rPr>
              <a:t>STAR-RIS-NOMA systems</a:t>
            </a:r>
            <a:r>
              <a:rPr lang="fa-IR" sz="1400" dirty="0">
                <a:solidFill>
                  <a:srgbClr val="11111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en-US" sz="1400" dirty="0">
                <a:solidFill>
                  <a:srgbClr val="11111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[5] </a:t>
            </a:r>
            <a:endParaRPr lang="en-US" sz="14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F5294C-2CFC-B57B-4851-253A351B6E45}"/>
              </a:ext>
            </a:extLst>
          </p:cNvPr>
          <p:cNvSpPr txBox="1"/>
          <p:nvPr/>
        </p:nvSpPr>
        <p:spPr>
          <a:xfrm>
            <a:off x="0" y="6265108"/>
            <a:ext cx="609790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J.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Zuo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Liu, Z. Ding, L. Song and H. V. Poor, "Joint Design for Simultaneously Transmitting and Reflecting (STAR) RIS Assisted NOMA Systems," in IEEE Transactions on Wireless Communications, vol. 22, no. 1, pp. 611-626, Jan. 2023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E4961A-47A4-CD53-EC4E-980A941CD943}"/>
              </a:ext>
            </a:extLst>
          </p:cNvPr>
          <p:cNvSpPr txBox="1"/>
          <p:nvPr/>
        </p:nvSpPr>
        <p:spPr>
          <a:xfrm>
            <a:off x="6015988" y="6320489"/>
            <a:ext cx="60979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X. Mu, J. Xu, Z. Wang and N. Al-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Dhahir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 "Simultaneously Transmitting and Reflecting Surfaces for Ubiquitous Next Generation Multiple Access in 6G and Beyond," in Proceedings of the IEEE</a:t>
            </a:r>
          </a:p>
        </p:txBody>
      </p:sp>
    </p:spTree>
    <p:extLst>
      <p:ext uri="{BB962C8B-B14F-4D97-AF65-F5344CB8AC3E}">
        <p14:creationId xmlns:p14="http://schemas.microsoft.com/office/powerpoint/2010/main" val="91554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9088B-8706-6FD9-B996-CE6DFC94F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5" y="366529"/>
            <a:ext cx="7729728" cy="118872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Clr>
                <a:schemeClr val="accent3"/>
              </a:buClr>
            </a:pP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Applications of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STAR-RIS</a:t>
            </a:r>
            <a:r>
              <a:rPr lang="fa-IR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 Wireless Communications</a:t>
            </a:r>
            <a:r>
              <a:rPr lang="fa-IR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D26F7-6B39-5595-5492-4B485837F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4" y="1775627"/>
            <a:ext cx="6318505" cy="1293097"/>
          </a:xfrm>
        </p:spPr>
        <p:txBody>
          <a:bodyPr/>
          <a:lstStyle/>
          <a:p>
            <a:pPr>
              <a:buClr>
                <a:schemeClr val="accent3"/>
              </a:buClr>
            </a:pP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B Nazanin" panose="00000400000000000000" pitchFamily="2" charset="-78"/>
              </a:rPr>
              <a:t>Integrated Sensing and Communication (ISAC)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850E4-190D-E16C-E453-96E9A9C98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z="1400" smtClean="0"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9CDF4A-BF05-386B-C692-C53C27F44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547" y="4174313"/>
            <a:ext cx="5604902" cy="17706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E6AF5C-42B4-5CDC-C5AC-FDF4596EE548}"/>
              </a:ext>
            </a:extLst>
          </p:cNvPr>
          <p:cNvSpPr txBox="1"/>
          <p:nvPr/>
        </p:nvSpPr>
        <p:spPr>
          <a:xfrm>
            <a:off x="2649191" y="5944959"/>
            <a:ext cx="68936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B Nazanin" panose="00000400000000000000" pitchFamily="2" charset="-78"/>
              </a:rPr>
              <a:t>Illustration of dual-system configurations for STAR-ISAC systems: (a) IFS configuration (b) SHS configuration [6]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16F1E5-D876-EFF1-8086-D69976E8F191}"/>
              </a:ext>
            </a:extLst>
          </p:cNvPr>
          <p:cNvSpPr txBox="1"/>
          <p:nvPr/>
        </p:nvSpPr>
        <p:spPr>
          <a:xfrm>
            <a:off x="2231135" y="3797063"/>
            <a:ext cx="34724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2000" kern="100" dirty="0">
                <a:latin typeface="Times New Roman" panose="02020603050405020304" pitchFamily="18" charset="0"/>
                <a:ea typeface="等线 Light" panose="02010600030101010101" pitchFamily="2" charset="-122"/>
                <a:cs typeface="B Nazanin" panose="00000400000000000000" pitchFamily="2" charset="-78"/>
              </a:rPr>
              <a:t>System Configurations</a:t>
            </a:r>
            <a:endParaRPr lang="en-US" sz="2000" dirty="0"/>
          </a:p>
        </p:txBody>
      </p:sp>
      <p:pic>
        <p:nvPicPr>
          <p:cNvPr id="8" name="Picture 7" descr="Diagram of a diagram of a diagram&#10;&#10;AI-generated content may be incorrect.">
            <a:extLst>
              <a:ext uri="{FF2B5EF4-FFF2-40B4-BE49-F238E27FC236}">
                <a16:creationId xmlns:a16="http://schemas.microsoft.com/office/drawing/2014/main" id="{7D0DA253-079A-77EA-3B13-4B0FE214D3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6615" y="2190381"/>
            <a:ext cx="3719590" cy="17566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D043CA-8080-3B8F-5C10-AF3E3A350253}"/>
              </a:ext>
            </a:extLst>
          </p:cNvPr>
          <p:cNvSpPr txBox="1"/>
          <p:nvPr/>
        </p:nvSpPr>
        <p:spPr>
          <a:xfrm>
            <a:off x="7329721" y="3950951"/>
            <a:ext cx="29476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B Nazanin" panose="00000400000000000000" pitchFamily="2" charset="-78"/>
              </a:rPr>
              <a:t> ISAC</a:t>
            </a:r>
            <a:r>
              <a:rPr lang="en-US" sz="1400" dirty="0">
                <a:solidFill>
                  <a:srgbClr val="11111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 assisted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en-US" sz="1400" dirty="0">
                <a:solidFill>
                  <a:srgbClr val="11111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STAR-RIS</a:t>
            </a:r>
            <a:r>
              <a:rPr lang="fa-IR" sz="1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B Nazanin" panose="00000400000000000000" pitchFamily="2" charset="-78"/>
              </a:rPr>
              <a:t>[7]</a:t>
            </a:r>
            <a:endParaRPr lang="en-US" sz="14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FCC435-5D2A-27FE-CE21-249C4BC5B66C}"/>
              </a:ext>
            </a:extLst>
          </p:cNvPr>
          <p:cNvSpPr txBox="1"/>
          <p:nvPr/>
        </p:nvSpPr>
        <p:spPr>
          <a:xfrm>
            <a:off x="0" y="6400800"/>
            <a:ext cx="60979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X. Mu, J. Xu, Z. Wang and N. Al-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Dhahir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 "Simultaneously Transmitting and Reflecting Surfaces for Ubiquitous Next Generation Multiple Access in 6G and Beyond," in Proceedings of the IEEE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1BE1AF-09A7-154D-3250-843967DA1A20}"/>
              </a:ext>
            </a:extLst>
          </p:cNvPr>
          <p:cNvSpPr txBox="1"/>
          <p:nvPr/>
        </p:nvSpPr>
        <p:spPr>
          <a:xfrm>
            <a:off x="6094091" y="6393105"/>
            <a:ext cx="60979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J. Zhang et al., "Joint Design for STAR-RIS Aided ISAC: Decoupling or Learning," in IEEE Transactions on Wireless Communications, vol. 23, no. 10, pp. 14365-14379, Oct. 2024</a:t>
            </a:r>
          </a:p>
        </p:txBody>
      </p:sp>
    </p:spTree>
    <p:extLst>
      <p:ext uri="{BB962C8B-B14F-4D97-AF65-F5344CB8AC3E}">
        <p14:creationId xmlns:p14="http://schemas.microsoft.com/office/powerpoint/2010/main" val="383786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B6F37-7636-92CD-0798-BD3B0BD11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5" y="356920"/>
            <a:ext cx="7729728" cy="1188720"/>
          </a:xfrm>
        </p:spPr>
        <p:txBody>
          <a:bodyPr>
            <a:normAutofit/>
          </a:bodyPr>
          <a:lstStyle/>
          <a:p>
            <a:pPr rtl="1"/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B Nazanin" panose="00000400000000000000" pitchFamily="2" charset="-78"/>
              </a:rPr>
              <a:t>Applications of STAR-RIS in Wireless Communications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4A10D-05B0-D63D-168D-717C77EA6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3120" y="1760112"/>
            <a:ext cx="8458200" cy="584128"/>
          </a:xfrm>
        </p:spPr>
        <p:txBody>
          <a:bodyPr>
            <a:noAutofit/>
          </a:bodyPr>
          <a:lstStyle/>
          <a:p>
            <a:pPr>
              <a:buClr>
                <a:schemeClr val="accent3"/>
              </a:buClr>
            </a:pPr>
            <a:r>
              <a:rPr lang="en-US" sz="2400" dirty="0">
                <a:latin typeface="Times New Roman" panose="02020603050405020304" pitchFamily="18" charset="0"/>
                <a:cs typeface="B Nazanin" panose="00000400000000000000" pitchFamily="2" charset="-78"/>
              </a:rPr>
              <a:t>Simultaneous Wireless Information and Power Transfer (SWIPT)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268F5-29A6-1442-0A58-8CFE15708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z="1400" smtClean="0"/>
              <a:t>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913C4-69F1-BCE3-FE87-D15C861CC1F8}"/>
              </a:ext>
            </a:extLst>
          </p:cNvPr>
          <p:cNvSpPr txBox="1"/>
          <p:nvPr/>
        </p:nvSpPr>
        <p:spPr>
          <a:xfrm>
            <a:off x="3503200" y="5848588"/>
            <a:ext cx="54180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B Nazanin" panose="00000400000000000000" pitchFamily="2" charset="-78"/>
              </a:rPr>
              <a:t>An illustration of the application of STAR in SWIPT [8]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907201-4A7E-A5D4-E482-45FCD5477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83" y="2784614"/>
            <a:ext cx="5120832" cy="29989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4E854-F1D0-47EB-B04D-7809689192FE}"/>
              </a:ext>
            </a:extLst>
          </p:cNvPr>
          <p:cNvSpPr txBox="1"/>
          <p:nvPr/>
        </p:nvSpPr>
        <p:spPr>
          <a:xfrm>
            <a:off x="234316" y="6320790"/>
            <a:ext cx="103270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G. Zhu, X. Mu, L. Guo, A. Huang and S. Xu, "," in IEEE Transactions on Wireless Communications, vol. 23, no. 6, pp. 5616-5631, June 2024Robust Resource Allocation for STAR-RIS Assisted SWIPT Systems</a:t>
            </a:r>
          </a:p>
        </p:txBody>
      </p:sp>
    </p:spTree>
    <p:extLst>
      <p:ext uri="{BB962C8B-B14F-4D97-AF65-F5344CB8AC3E}">
        <p14:creationId xmlns:p14="http://schemas.microsoft.com/office/powerpoint/2010/main" val="259573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2B03F-E0AB-DBC6-A281-98DE86EE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1636" y="477902"/>
            <a:ext cx="7729728" cy="1188720"/>
          </a:xfrm>
        </p:spPr>
        <p:txBody>
          <a:bodyPr>
            <a:normAutofit/>
          </a:bodyPr>
          <a:lstStyle/>
          <a:p>
            <a:pPr rtl="1"/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B Nazanin" panose="00000400000000000000" pitchFamily="2" charset="-78"/>
              </a:rPr>
              <a:t>Applications of STAR-RIS in Wireless Communications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6193A-23FA-1B7D-B24B-5D196C41F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1636" y="1911806"/>
            <a:ext cx="4402074" cy="584127"/>
          </a:xfrm>
        </p:spPr>
        <p:txBody>
          <a:bodyPr>
            <a:noAutofit/>
          </a:bodyPr>
          <a:lstStyle/>
          <a:p>
            <a:pPr>
              <a:buClr>
                <a:schemeClr val="accent3"/>
              </a:buClr>
            </a:pP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B Nazanin" panose="00000400000000000000" pitchFamily="2" charset="-78"/>
              </a:rPr>
              <a:t>Physical Layer Security (PLS)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50909-2952-8E6D-A193-8A69B5EC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z="1400" smtClean="0"/>
              <a:t>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CA33E6-74F7-F8BB-05B1-2B94C72F576E}"/>
              </a:ext>
            </a:extLst>
          </p:cNvPr>
          <p:cNvSpPr txBox="1"/>
          <p:nvPr/>
        </p:nvSpPr>
        <p:spPr>
          <a:xfrm>
            <a:off x="2828789" y="5380534"/>
            <a:ext cx="65344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400" dirty="0">
                <a:solidFill>
                  <a:srgbClr val="11111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An illustration of a full-space PLS scenario facilitated by STAR, where the received signal power at eavesdroppers on both sides can be reduced through transmission and reflection [6]</a:t>
            </a:r>
            <a:endParaRPr lang="en-US" sz="14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6BBAF4-A5B4-BF62-F489-929E671CD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842" y="2590511"/>
            <a:ext cx="2742315" cy="26954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945408-5C24-45D9-E859-80FF2B0B5847}"/>
              </a:ext>
            </a:extLst>
          </p:cNvPr>
          <p:cNvSpPr txBox="1"/>
          <p:nvPr/>
        </p:nvSpPr>
        <p:spPr>
          <a:xfrm>
            <a:off x="188596" y="6380097"/>
            <a:ext cx="104413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X. Mu, J. Xu, Z. Wang and N. Al-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Dhahir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 "Simultaneously Transmitting and Reflecting Surfaces for Ubiquitous Next Generation Multiple Access in 6G and Beyond," in Proceedings of the IEEE</a:t>
            </a:r>
          </a:p>
        </p:txBody>
      </p:sp>
    </p:spTree>
    <p:extLst>
      <p:ext uri="{BB962C8B-B14F-4D97-AF65-F5344CB8AC3E}">
        <p14:creationId xmlns:p14="http://schemas.microsoft.com/office/powerpoint/2010/main" val="163305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49795-C5BE-1EC2-FF59-4DBFDD190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95773"/>
            <a:ext cx="7729728" cy="1188720"/>
          </a:xfrm>
        </p:spPr>
        <p:txBody>
          <a:bodyPr>
            <a:normAutofit/>
          </a:bodyPr>
          <a:lstStyle/>
          <a:p>
            <a:pPr rtl="1"/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B Nazanin" panose="00000400000000000000" pitchFamily="2" charset="-78"/>
              </a:rPr>
              <a:t>Applications of STAR-RIS in Wireless Communications</a:t>
            </a:r>
            <a:endParaRPr lang="en-US" sz="240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BA32D14-75FA-C133-33D2-134F67D573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116836" y="2777475"/>
            <a:ext cx="3646664" cy="2188486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03C664-F834-142F-B3C2-7291F2930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z="1400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5D24C3-2EEB-F570-68CA-D169C73E7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170" y="2777475"/>
            <a:ext cx="4082142" cy="21759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956760B-78AE-56A7-D27E-56E4507AEB95}"/>
              </a:ext>
            </a:extLst>
          </p:cNvPr>
          <p:cNvSpPr txBox="1"/>
          <p:nvPr/>
        </p:nvSpPr>
        <p:spPr>
          <a:xfrm>
            <a:off x="2116836" y="1811592"/>
            <a:ext cx="70043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B Nazanin" panose="00000400000000000000" pitchFamily="2" charset="-78"/>
              </a:rPr>
              <a:t>Unmanned Aerial Vehicle (UAV) Communications</a:t>
            </a:r>
            <a:endParaRPr 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8E8247-DB2F-9FDB-2829-4E97FE883BE1}"/>
              </a:ext>
            </a:extLst>
          </p:cNvPr>
          <p:cNvSpPr txBox="1"/>
          <p:nvPr/>
        </p:nvSpPr>
        <p:spPr>
          <a:xfrm>
            <a:off x="767099" y="5100847"/>
            <a:ext cx="10657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400" dirty="0">
                <a:solidFill>
                  <a:srgbClr val="11111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Applications of STAR in drone communications: (a) Communication assisted by a STAR mounted on a drone; (b) Drone communication assisted by STAR [6]</a:t>
            </a:r>
            <a:endParaRPr lang="en-US" sz="14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0305E6-1FC6-F2DE-50A1-49F0EBFA9197}"/>
              </a:ext>
            </a:extLst>
          </p:cNvPr>
          <p:cNvSpPr txBox="1"/>
          <p:nvPr/>
        </p:nvSpPr>
        <p:spPr>
          <a:xfrm>
            <a:off x="111442" y="6217920"/>
            <a:ext cx="1041558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X. Mu, J. Xu, Z. Wang and N. Al-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Dhahir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 "Simultaneously Transmitting and Reflecting Surfaces for Ubiquitous Next Generation Multiple Access in 6G and Beyond," in Proceedings of the IEEE</a:t>
            </a:r>
          </a:p>
        </p:txBody>
      </p:sp>
    </p:spTree>
    <p:extLst>
      <p:ext uri="{BB962C8B-B14F-4D97-AF65-F5344CB8AC3E}">
        <p14:creationId xmlns:p14="http://schemas.microsoft.com/office/powerpoint/2010/main" val="56031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E255A-6EDA-BFD6-C50B-E9EA696FB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3" y="348855"/>
            <a:ext cx="7729728" cy="1188720"/>
          </a:xfrm>
        </p:spPr>
        <p:txBody>
          <a:bodyPr>
            <a:normAutofit/>
          </a:bodyPr>
          <a:lstStyle/>
          <a:p>
            <a:pPr rtl="1"/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B Nazanin" panose="00000400000000000000" pitchFamily="2" charset="-78"/>
              </a:rPr>
              <a:t>Applications of STAR-RIS in Wireless Communications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BEF6E-4341-3F56-3B42-91F1194C2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266" y="1778851"/>
            <a:ext cx="4771644" cy="923216"/>
          </a:xfrm>
        </p:spPr>
        <p:txBody>
          <a:bodyPr>
            <a:noAutofit/>
          </a:bodyPr>
          <a:lstStyle/>
          <a:p>
            <a:pPr>
              <a:buClr>
                <a:schemeClr val="accent3"/>
              </a:buClr>
            </a:pPr>
            <a:r>
              <a:rPr lang="en-US" sz="2400" kern="100" dirty="0">
                <a:latin typeface="Times New Roman" panose="02020603050405020304" pitchFamily="18" charset="0"/>
                <a:ea typeface="等线 Light" panose="02010600030101010101" pitchFamily="2" charset="-122"/>
                <a:cs typeface="B Nazanin" panose="00000400000000000000" pitchFamily="2" charset="-78"/>
              </a:rPr>
              <a:t>Mobile Edge Computing (MEC)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39A48-1E4C-ECB1-12D7-1DA77945E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z="1400" smtClean="0"/>
              <a:t>11</a:t>
            </a:fld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D74B2D-3E61-B18E-DA46-73F2FBC66553}"/>
              </a:ext>
            </a:extLst>
          </p:cNvPr>
          <p:cNvSpPr txBox="1"/>
          <p:nvPr/>
        </p:nvSpPr>
        <p:spPr>
          <a:xfrm>
            <a:off x="4514088" y="5369304"/>
            <a:ext cx="355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400" dirty="0">
                <a:solidFill>
                  <a:srgbClr val="11111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MEC systems assisted by STAR-RIS [9]</a:t>
            </a:r>
            <a:endParaRPr lang="en-US" sz="14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7" name="Picture 6" descr="Diagram of a diagram of a device&#10;&#10;AI-generated content may be incorrect.">
            <a:extLst>
              <a:ext uri="{FF2B5EF4-FFF2-40B4-BE49-F238E27FC236}">
                <a16:creationId xmlns:a16="http://schemas.microsoft.com/office/drawing/2014/main" id="{B7FB293D-7044-1536-C225-F7E9B3575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134" y="2418946"/>
            <a:ext cx="4381725" cy="28703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A8C19C-8EF5-CE4D-0F37-FDFC98025E68}"/>
              </a:ext>
            </a:extLst>
          </p:cNvPr>
          <p:cNvSpPr txBox="1"/>
          <p:nvPr/>
        </p:nvSpPr>
        <p:spPr>
          <a:xfrm>
            <a:off x="195998" y="6217920"/>
            <a:ext cx="1027388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Z. Liu, Z. Li, M. Wen, Y. Gong and Y. -C. Wu, "STAR-RIS-Aided Mobile Edge Computing: Computation Rate Maximization With Binary Amplitude Coefficients," in IEEE Transactions on Communications, vol. 71, no. 7, pp. 4313-4327, July 2023</a:t>
            </a:r>
          </a:p>
        </p:txBody>
      </p:sp>
    </p:spTree>
    <p:extLst>
      <p:ext uri="{BB962C8B-B14F-4D97-AF65-F5344CB8AC3E}">
        <p14:creationId xmlns:p14="http://schemas.microsoft.com/office/powerpoint/2010/main" val="145197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F29A9-78A9-2E61-8B5E-0546E5384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4006" y="401560"/>
            <a:ext cx="7729728" cy="1188720"/>
          </a:xfrm>
        </p:spPr>
        <p:txBody>
          <a:bodyPr>
            <a:normAutofit/>
          </a:bodyPr>
          <a:lstStyle/>
          <a:p>
            <a:pPr rtl="1"/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B Nazanin" panose="00000400000000000000" pitchFamily="2" charset="-78"/>
              </a:rPr>
              <a:t>Applications of STAR-RIS in Wireless Communications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24928-3D3B-3F71-8A66-A8F65C612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4006" y="1782528"/>
            <a:ext cx="5737206" cy="1879527"/>
          </a:xfrm>
        </p:spPr>
        <p:txBody>
          <a:bodyPr>
            <a:normAutofit/>
          </a:bodyPr>
          <a:lstStyle/>
          <a:p>
            <a:pPr>
              <a:buClr>
                <a:schemeClr val="accent3"/>
              </a:buClr>
            </a:pPr>
            <a:r>
              <a:rPr lang="en-US" sz="2400" kern="100" dirty="0">
                <a:latin typeface="Times New Roman" panose="02020603050405020304" pitchFamily="18" charset="0"/>
                <a:ea typeface="等线 Light" panose="02010600030101010101" pitchFamily="2" charset="-122"/>
                <a:cs typeface="B Nazanin" panose="00000400000000000000" pitchFamily="2" charset="-78"/>
              </a:rPr>
              <a:t>Coordinated Multi-Point (</a:t>
            </a:r>
            <a:r>
              <a:rPr lang="en-US" sz="2400" kern="100" dirty="0" err="1">
                <a:latin typeface="Times New Roman" panose="02020603050405020304" pitchFamily="18" charset="0"/>
                <a:ea typeface="等线 Light" panose="02010600030101010101" pitchFamily="2" charset="-122"/>
                <a:cs typeface="B Nazanin" panose="00000400000000000000" pitchFamily="2" charset="-78"/>
              </a:rPr>
              <a:t>CoMP</a:t>
            </a:r>
            <a:r>
              <a:rPr lang="en-US" sz="2400" kern="100" dirty="0">
                <a:latin typeface="Times New Roman" panose="02020603050405020304" pitchFamily="18" charset="0"/>
                <a:ea typeface="等线 Light" panose="02010600030101010101" pitchFamily="2" charset="-122"/>
                <a:cs typeface="B Nazanin" panose="00000400000000000000" pitchFamily="2" charset="-78"/>
              </a:rPr>
              <a:t>)</a:t>
            </a:r>
          </a:p>
          <a:p>
            <a:pPr algn="r" rtl="1">
              <a:buClr>
                <a:schemeClr val="accent3"/>
              </a:buClr>
            </a:pPr>
            <a:endParaRPr lang="en-US" sz="2400" kern="100" dirty="0">
              <a:latin typeface="Times New Roman" panose="02020603050405020304" pitchFamily="18" charset="0"/>
              <a:ea typeface="等线 Light" panose="02010600030101010101" pitchFamily="2" charset="-122"/>
              <a:cs typeface="B Nazanin" panose="00000400000000000000" pitchFamily="2" charset="-78"/>
            </a:endParaRPr>
          </a:p>
          <a:p>
            <a:pPr algn="r" rt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C85F6-3733-1FEE-A2AD-8602DB9D6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z="1400" smtClean="0"/>
              <a:t>12</a:t>
            </a:fld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C195DC-77E5-8987-5731-6875E01C0588}"/>
              </a:ext>
            </a:extLst>
          </p:cNvPr>
          <p:cNvSpPr txBox="1"/>
          <p:nvPr/>
        </p:nvSpPr>
        <p:spPr>
          <a:xfrm>
            <a:off x="2879713" y="5585404"/>
            <a:ext cx="66383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solidFill>
                  <a:srgbClr val="11111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A general system model for STAR-RIS-enhanced NOMA-</a:t>
            </a:r>
            <a:r>
              <a:rPr lang="en-US" sz="1400" dirty="0" err="1">
                <a:solidFill>
                  <a:srgbClr val="11111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CoMP</a:t>
            </a:r>
            <a:r>
              <a:rPr lang="en-US" sz="1400" dirty="0">
                <a:solidFill>
                  <a:srgbClr val="11111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 networks [10]</a:t>
            </a:r>
            <a:endParaRPr lang="en-US" sz="14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12" name="Picture 11" descr="A diagram of a network&#10;&#10;AI-generated content may be incorrect.">
            <a:extLst>
              <a:ext uri="{FF2B5EF4-FFF2-40B4-BE49-F238E27FC236}">
                <a16:creationId xmlns:a16="http://schemas.microsoft.com/office/drawing/2014/main" id="{2ABCFB84-5F11-EC8A-B618-15E1FEC534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493" y="2403890"/>
            <a:ext cx="3149762" cy="31815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B1EAB8-AC79-9EAE-9CD7-33BC295CE7F7}"/>
              </a:ext>
            </a:extLst>
          </p:cNvPr>
          <p:cNvSpPr txBox="1"/>
          <p:nvPr/>
        </p:nvSpPr>
        <p:spPr>
          <a:xfrm>
            <a:off x="157162" y="6248691"/>
            <a:ext cx="1040415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T. Hou, J. Wang, Y. Liu, X. Sun, A. Li and B. Ai, "A Joint Design for STAR-RIS Enhanced NOMA-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Networks: A Simultaneous-Signal-Enhancement-and-Cancellation-Based (SSECB) Design," in IEEE Transactions on Vehicular Technology, vol. 71, no. 1, pp. 1043-1048, Jan. 2022</a:t>
            </a:r>
          </a:p>
        </p:txBody>
      </p:sp>
    </p:spTree>
    <p:extLst>
      <p:ext uri="{BB962C8B-B14F-4D97-AF65-F5344CB8AC3E}">
        <p14:creationId xmlns:p14="http://schemas.microsoft.com/office/powerpoint/2010/main" val="291573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B553B-47CB-4392-3D58-DF249E73C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rtl="1"/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B Nazanin" panose="00000400000000000000" pitchFamily="2" charset="-78"/>
              </a:rPr>
              <a:t>Applications of STAR-RIS in Wireless Communications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7BF54-0115-D579-FC4C-86F7F8B95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87673"/>
            <a:ext cx="7729728" cy="3101983"/>
          </a:xfrm>
        </p:spPr>
        <p:txBody>
          <a:bodyPr/>
          <a:lstStyle/>
          <a:p>
            <a:pPr algn="l">
              <a:buClr>
                <a:schemeClr val="accent3"/>
              </a:buClr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等线 Light" panose="02010600030101010101" pitchFamily="2" charset="-122"/>
                <a:cs typeface="B Nazanin" panose="00000400000000000000" pitchFamily="2" charset="-78"/>
              </a:rPr>
              <a:t>3D Localization</a:t>
            </a:r>
          </a:p>
          <a:p>
            <a:pPr algn="r" rtl="1">
              <a:buClr>
                <a:schemeClr val="accent3"/>
              </a:buClr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FF807-F064-E1B4-7EF3-326D052EC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z="1400" smtClean="0"/>
              <a:t>13</a:t>
            </a:fld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91898-3A78-C3E1-5CFD-C17D9176B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3129313"/>
            <a:ext cx="5728988" cy="23603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48FC36-CA8F-8633-46DA-7E23B2AAFBFE}"/>
              </a:ext>
            </a:extLst>
          </p:cNvPr>
          <p:cNvSpPr txBox="1"/>
          <p:nvPr/>
        </p:nvSpPr>
        <p:spPr>
          <a:xfrm>
            <a:off x="3048000" y="5518476"/>
            <a:ext cx="6096000" cy="32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ctr" rtl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Simultaneous Indoor and Outdoor Localization via STAR-RIS [11]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D725E0-3ED7-F415-5BB0-A106654642DD}"/>
              </a:ext>
            </a:extLst>
          </p:cNvPr>
          <p:cNvSpPr txBox="1"/>
          <p:nvPr/>
        </p:nvSpPr>
        <p:spPr>
          <a:xfrm>
            <a:off x="134302" y="6217920"/>
            <a:ext cx="69408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</a:t>
            </a:r>
            <a:r>
              <a:rPr lang="fa-I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Zhao,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Yajun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He,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Jiguang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(2023). RISTA - Reconfigurable Intelligent Surface Technology White Paper (2023)</a:t>
            </a:r>
          </a:p>
        </p:txBody>
      </p:sp>
    </p:spTree>
    <p:extLst>
      <p:ext uri="{BB962C8B-B14F-4D97-AF65-F5344CB8AC3E}">
        <p14:creationId xmlns:p14="http://schemas.microsoft.com/office/powerpoint/2010/main" val="47249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5EC1-9E93-2428-D90B-F86DA327B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6C898-5A20-7515-3722-C9CA0BE8B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endParaRPr lang="en-US" sz="2000" dirty="0"/>
          </a:p>
          <a:p>
            <a:pPr algn="r" rtl="1"/>
            <a:endParaRPr lang="en-US" sz="2000" dirty="0"/>
          </a:p>
          <a:p>
            <a:pPr algn="r" rtl="1"/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FCD55-3DF1-21BF-A318-A60877C0D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C881-9964-4248-ACBD-E7C5E2808A31}" type="slidenum">
              <a:rPr lang="en-US" sz="1400" smtClean="0"/>
              <a:t>14</a:t>
            </a:fld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B9DCDD-DC6C-01C6-344A-74DCCFC37FBC}"/>
              </a:ext>
            </a:extLst>
          </p:cNvPr>
          <p:cNvSpPr txBox="1"/>
          <p:nvPr/>
        </p:nvSpPr>
        <p:spPr>
          <a:xfrm>
            <a:off x="2231136" y="2980944"/>
            <a:ext cx="7729728" cy="219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200000"/>
              </a:lnSpc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B Nazanin" panose="00000400000000000000" pitchFamily="2" charset="-78"/>
              </a:rPr>
              <a:t>STAR-RIS vs. RIS</a:t>
            </a:r>
          </a:p>
          <a:p>
            <a:pPr marL="285750" indent="-285750" algn="l">
              <a:lnSpc>
                <a:spcPct val="200000"/>
              </a:lnSpc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B Nazanin" panose="00000400000000000000" pitchFamily="2" charset="-78"/>
              </a:rPr>
              <a:t>Operational Protocols of STAR-RIS</a:t>
            </a:r>
          </a:p>
          <a:p>
            <a:pPr marL="285750" indent="-285750" algn="l">
              <a:lnSpc>
                <a:spcPct val="200000"/>
              </a:lnSpc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B Nazanin" panose="00000400000000000000" pitchFamily="2" charset="-78"/>
              </a:rPr>
              <a:t>Key Applications in Wireless Communications</a:t>
            </a:r>
            <a:endParaRPr lang="en-US" sz="24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78058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A88E2-FBB9-8B04-131C-33052DE47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606040"/>
            <a:ext cx="8991600" cy="164592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the attention of professors and students.</a:t>
            </a:r>
          </a:p>
        </p:txBody>
      </p:sp>
    </p:spTree>
    <p:extLst>
      <p:ext uri="{BB962C8B-B14F-4D97-AF65-F5344CB8AC3E}">
        <p14:creationId xmlns:p14="http://schemas.microsoft.com/office/powerpoint/2010/main" val="120923019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1582</TotalTime>
  <Words>1119</Words>
  <Application>Microsoft Office PowerPoint</Application>
  <PresentationFormat>Widescreen</PresentationFormat>
  <Paragraphs>89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B Nazanin</vt:lpstr>
      <vt:lpstr>Gill Sans MT</vt:lpstr>
      <vt:lpstr>Times New Roman</vt:lpstr>
      <vt:lpstr>Parcel</vt:lpstr>
      <vt:lpstr>  Applications of STAR-RIS in Communication Systems  </vt:lpstr>
      <vt:lpstr>Content list</vt:lpstr>
      <vt:lpstr>iNTRODUCTION</vt:lpstr>
      <vt:lpstr>Background – Introduction to RIS</vt:lpstr>
      <vt:lpstr>Background - STAR-RIS Performance Protocols</vt:lpstr>
      <vt:lpstr>Applications of STAR-RIS in Wireless Communications</vt:lpstr>
      <vt:lpstr>Applications of STAR-RIS in Wireless Communications </vt:lpstr>
      <vt:lpstr>Applications of STAR-RIS in Wireless Communications</vt:lpstr>
      <vt:lpstr>Applications of STAR-RIS in Wireless Communications</vt:lpstr>
      <vt:lpstr>Applications of STAR-RIS in Wireless Communications</vt:lpstr>
      <vt:lpstr>Applications of STAR-RIS in Wireless Communications</vt:lpstr>
      <vt:lpstr>Applications of STAR-RIS in Wireless Communications</vt:lpstr>
      <vt:lpstr>Applications of STAR-RIS in Wireless Communications</vt:lpstr>
      <vt:lpstr>cONCLUSION</vt:lpstr>
      <vt:lpstr>Thank you for the attention of professors and students.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Sefid</dc:creator>
  <cp:lastModifiedBy>Mohammad Sefid</cp:lastModifiedBy>
  <cp:revision>240</cp:revision>
  <dcterms:created xsi:type="dcterms:W3CDTF">2025-02-22T07:25:25Z</dcterms:created>
  <dcterms:modified xsi:type="dcterms:W3CDTF">2026-10-22T02:51:06Z</dcterms:modified>
</cp:coreProperties>
</file>